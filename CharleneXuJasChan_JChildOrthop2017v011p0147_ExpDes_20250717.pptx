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C44700-6063-4A7B-BE6B-98A538BD9DE7}">
  <a:tblStyle styleId="{7BC44700-6063-4A7B-BE6B-98A538BD9D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23784158_3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6f23784158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f23784158_3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6f23784158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f23784158_3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6f23784158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113" y="4003550"/>
            <a:ext cx="8306173" cy="11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8595184" y="4847109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1125" y="429150"/>
            <a:ext cx="8306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Review of Study Design in</a:t>
            </a:r>
            <a:endParaRPr b="1" i="0" sz="20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Cherkasskiy L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Caffrey JP, et al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Patient-specific 3D models aid planning for triplane proximal femoral osteotomy in slipped capital femoral</a:t>
            </a:r>
            <a:endParaRPr b="1"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epiphysis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r>
              <a:rPr b="1" i="1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 </a:t>
            </a:r>
            <a:r>
              <a:rPr b="1" i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Child Orthop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 &lt;Vol&gt;:</a:t>
            </a: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-</a:t>
            </a: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b="1"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2017</a:t>
            </a:r>
            <a:r>
              <a:rPr b="1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Charlene Xu and Jas Chan</a:t>
            </a:r>
            <a:endParaRPr b="1" i="0" sz="24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7/17/2025</a:t>
            </a:r>
            <a:endParaRPr sz="24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8595184" y="4847109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0"/>
            <a:ext cx="91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B5394"/>
                </a:solidFill>
                <a:latin typeface="Comic Sans MS"/>
                <a:ea typeface="Comic Sans MS"/>
                <a:cs typeface="Comic Sans MS"/>
                <a:sym typeface="Comic Sans MS"/>
              </a:rPr>
              <a:t>Hypothesis / Prob</a:t>
            </a:r>
            <a:r>
              <a:rPr b="1" lang="en" sz="2700">
                <a:solidFill>
                  <a:srgbClr val="0B5394"/>
                </a:solidFill>
                <a:latin typeface="Comic Sans MS"/>
                <a:ea typeface="Comic Sans MS"/>
                <a:cs typeface="Comic Sans MS"/>
                <a:sym typeface="Comic Sans MS"/>
              </a:rPr>
              <a:t>lem Statement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0" y="2271600"/>
            <a:ext cx="91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Aims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0" y="609600"/>
            <a:ext cx="9144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B5394"/>
                </a:solidFill>
                <a:latin typeface="Comic Sans MS"/>
                <a:ea typeface="Comic Sans MS"/>
                <a:cs typeface="Comic Sans MS"/>
                <a:sym typeface="Comic Sans MS"/>
              </a:rPr>
              <a:t>H1: </a:t>
            </a:r>
            <a:r>
              <a:rPr lang="en" sz="1600">
                <a:solidFill>
                  <a:srgbClr val="0B5394"/>
                </a:solidFill>
                <a:latin typeface="Comic Sans MS"/>
                <a:ea typeface="Comic Sans MS"/>
                <a:cs typeface="Comic Sans MS"/>
                <a:sym typeface="Comic Sans MS"/>
              </a:rPr>
              <a:t>TPFO (triplane proximal femoral osteotomy) planned with the aid of patient-specific, plastic 3D printed models for mock-surgery practice would decrease surgery and fluoroscopy time without sacrificing radiographically assessed accuracy of the correction in treating SCFE (slipped capital femoral epiphysis).</a:t>
            </a:r>
            <a:endParaRPr sz="1600">
              <a:solidFill>
                <a:srgbClr val="0B539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0B539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2743200"/>
            <a:ext cx="9144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A1: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Evaluate the benefits of using 3D print technology to aid in surgical planning (decrease surgery time)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A2: Compare via surgical time,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fluoroscopy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time &amp; estimated blood loss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8595184" y="4829412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3571" y="463417"/>
            <a:ext cx="914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5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Aim: </a:t>
            </a:r>
            <a:r>
              <a:rPr b="1"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if surgical time is reduced</a:t>
            </a:r>
            <a:endParaRPr i="0" sz="15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3950" y="108486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Experimental Groups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143375" y="1538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{7BC44700-6063-4A7B-BE6B-98A538BD9DE7}</a:tableStyleId>
              </a:tblPr>
              <a:tblGrid>
                <a:gridCol w="641800"/>
                <a:gridCol w="1061600"/>
                <a:gridCol w="2481700"/>
                <a:gridCol w="243550"/>
              </a:tblGrid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Grp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Group type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Surgical time (min)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No-model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170.4 ± 76.4 (107 to 257)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125.8 ± 25.4 (101 to 165)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Senior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163.8 ± 43.8 (125 to 238)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" name="Google Shape;74;p15"/>
          <p:cNvSpPr txBox="1"/>
          <p:nvPr/>
        </p:nvSpPr>
        <p:spPr>
          <a:xfrm>
            <a:off x="5014175" y="85626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Metrics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43375" y="291981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Statistical Analysis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0848" y="3167450"/>
            <a:ext cx="495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Surgical time was significantly reduced in the model group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Comic Sans MS"/>
              <a:buAutoNum type="alphaLcPeriod"/>
            </a:pP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107 min in no-model group vs 101 min in model</a:t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010275" y="1097436"/>
            <a:ext cx="397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Surgical time</a:t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991688" y="1670132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2085" y="209625"/>
            <a:ext cx="680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JChildOrthop2017v011p0147_CherkasskiyCaffrey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2076" y="-61254"/>
            <a:ext cx="910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Team </a:t>
            </a:r>
            <a:r>
              <a:rPr lang="en" sz="1500">
                <a:solidFill>
                  <a:srgbClr val="0000FF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#</a:t>
            </a: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 Charlene Xu and Jas Chan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1" name="Google Shape;81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751" y="2050000"/>
            <a:ext cx="3909024" cy="2417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8595184" y="4829412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3571" y="463417"/>
            <a:ext cx="914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5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Aim: </a:t>
            </a:r>
            <a:r>
              <a:rPr b="1"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if fluoroscopy time is reduced</a:t>
            </a:r>
            <a:endParaRPr i="0" sz="15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13950" y="108486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Experimental Groups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89" name="Google Shape;89;p16"/>
          <p:cNvGraphicFramePr/>
          <p:nvPr/>
        </p:nvGraphicFramePr>
        <p:xfrm>
          <a:off x="143375" y="1538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{7BC44700-6063-4A7B-BE6B-98A538BD9DE7}</a:tableStyleId>
              </a:tblPr>
              <a:tblGrid>
                <a:gridCol w="388675"/>
                <a:gridCol w="1082475"/>
                <a:gridCol w="1791125"/>
                <a:gridCol w="253750"/>
              </a:tblGrid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Grp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Group type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Fluoroscopy time (min)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No-model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0.6 ± 0.4 (0.2 to 1.2)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0.3 ± 0.3 (0.1 to 0.9)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Senior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0.4 ± 0.2 (0.2 to 0.6)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6"/>
          <p:cNvSpPr txBox="1"/>
          <p:nvPr/>
        </p:nvSpPr>
        <p:spPr>
          <a:xfrm>
            <a:off x="5014175" y="108486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Metrics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43375" y="291981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Statistical Analysis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20848" y="3167450"/>
            <a:ext cx="5284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Fluoroscopy time was significantly reduced in the model group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Comic Sans MS"/>
              <a:buAutoNum type="alphaLcPeriod"/>
            </a:pP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1.2 in the no-model group to 0.6 in the senior group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010275" y="1326036"/>
            <a:ext cx="397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Fluoroscopy time</a:t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014163" y="2230957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2085" y="209625"/>
            <a:ext cx="666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JChildOrthop2017v011p0147_CherkasskiyCaffrey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6" name="Google Shape;96;p16" title="Screenshot 2025-07-17 at 11.20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709" y="2704025"/>
            <a:ext cx="3209809" cy="19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42076" y="-61254"/>
            <a:ext cx="910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Team </a:t>
            </a:r>
            <a:r>
              <a:rPr lang="en" sz="1500">
                <a:solidFill>
                  <a:srgbClr val="0000FF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#</a:t>
            </a: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 Charlene Xu and Jas Chan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8595184" y="4829412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13571" y="463417"/>
            <a:ext cx="914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5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Aim: </a:t>
            </a:r>
            <a:r>
              <a:rPr b="1"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if estimated blood loss is affected by the 3D planning before surgery</a:t>
            </a:r>
            <a:endParaRPr i="0" sz="15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3950" y="108486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Experimental Groups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05" name="Google Shape;105;p17"/>
          <p:cNvGraphicFramePr/>
          <p:nvPr/>
        </p:nvGraphicFramePr>
        <p:xfrm>
          <a:off x="143375" y="1417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{7BC44700-6063-4A7B-BE6B-98A538BD9DE7}</a:tableStyleId>
              </a:tblPr>
              <a:tblGrid>
                <a:gridCol w="575400"/>
                <a:gridCol w="1491750"/>
                <a:gridCol w="1580575"/>
                <a:gridCol w="322775"/>
              </a:tblGrid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Grp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Group type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Estimated blood loss (mL)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No-model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962.6 ± 276.1 (626.8 to 1302)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979.8 ± 316.2 (694.5 to 1354.4)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Senior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981.5 ± 534.4 (174.3 to 1658.5)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17"/>
          <p:cNvSpPr txBox="1"/>
          <p:nvPr/>
        </p:nvSpPr>
        <p:spPr>
          <a:xfrm>
            <a:off x="5014175" y="108486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Metrics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43375" y="3061636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Statistical Analysis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28998" y="3335300"/>
            <a:ext cx="495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3 groups were tested, showed the 3D planning did not affect blood loss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Comic Sans MS"/>
              <a:buAutoNum type="alphaLcPeriod"/>
            </a:pP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(626.8-694.5 mL)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010275" y="1326036"/>
            <a:ext cx="397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Blood Loss</a:t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5014163" y="1916207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2085" y="209625"/>
            <a:ext cx="680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JChildOrthop2017v011p0147_CherkasskiyCaffrey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2" name="Google Shape;112;p17" title="Screenshot 2025-07-17 at 11.14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350" y="2331700"/>
            <a:ext cx="3774424" cy="23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42076" y="-61254"/>
            <a:ext cx="910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Team </a:t>
            </a:r>
            <a:r>
              <a:rPr lang="en" sz="1500">
                <a:solidFill>
                  <a:srgbClr val="0000FF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#</a:t>
            </a:r>
            <a:r>
              <a:rPr lang="en" sz="1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 Charlene Xu and Jas Chan</a:t>
            </a:r>
            <a:endParaRPr b="0" i="0" sz="1500" u="none" cap="none" strike="noStrike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8595184" y="4847109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0" y="0"/>
            <a:ext cx="91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Results Statement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43375" y="35623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Explanations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20850" y="3810000"/>
            <a:ext cx="902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 3D models may decrease surgical time by approximately 45 minutes and cut fluoroscopy time in half while maintaining optimal surgical correction of the 3D SCFE deformity.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2" name="Google Shape;122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075" y="669475"/>
            <a:ext cx="3881855" cy="240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1471500" y="3024900"/>
            <a:ext cx="6201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surgical time:</a:t>
            </a:r>
            <a:r>
              <a:rPr lang="en" sz="1300">
                <a:solidFill>
                  <a:schemeClr val="dk2"/>
                </a:solidFill>
              </a:rPr>
              <a:t> model group had less surgical time than both </a:t>
            </a:r>
            <a:r>
              <a:rPr lang="en" sz="1300">
                <a:solidFill>
                  <a:schemeClr val="dk2"/>
                </a:solidFill>
              </a:rPr>
              <a:t>senior</a:t>
            </a:r>
            <a:r>
              <a:rPr lang="en" sz="1300">
                <a:solidFill>
                  <a:schemeClr val="dk2"/>
                </a:solidFill>
              </a:rPr>
              <a:t> and no-model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fluoroscopy time:</a:t>
            </a:r>
            <a:r>
              <a:rPr lang="en" sz="1300">
                <a:solidFill>
                  <a:schemeClr val="dk2"/>
                </a:solidFill>
              </a:rPr>
              <a:t> senior group had least fluoroscopy time, model group had less time than no-model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/>
        </p:nvSpPr>
        <p:spPr>
          <a:xfrm>
            <a:off x="8595184" y="4847109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0" y="0"/>
            <a:ext cx="914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Results Statement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2992775" y="3301988"/>
            <a:ext cx="54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Comic Sans MS"/>
                <a:ea typeface="Comic Sans MS"/>
                <a:cs typeface="Comic Sans MS"/>
                <a:sym typeface="Comic Sans MS"/>
              </a:rPr>
              <a:t>Estimated blood loss vs. Group Type</a:t>
            </a:r>
            <a:endParaRPr b="1" i="0" sz="1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43375" y="35623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90099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Explanations</a:t>
            </a:r>
            <a:endParaRPr b="1" i="0" sz="1500" u="none" cap="none" strike="noStrike">
              <a:solidFill>
                <a:srgbClr val="99009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20845" y="3810000"/>
            <a:ext cx="888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</a:t>
            </a: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Estimated blood loss was similar across all three groups with no significant difference.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3D planning mainly improves surgical efficiency and accuracy rather than blood loss</a:t>
            </a:r>
            <a:endParaRPr sz="16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3" name="Google Shape;133;p19" title="Screenshot 2025-07-17 at 11.14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787" y="821325"/>
            <a:ext cx="3774424" cy="2372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