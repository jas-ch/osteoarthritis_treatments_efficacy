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CC20A3A-D833-4AFB-934E-3B1BEED33C14}">
  <a:tblStyle styleId="{0CC20A3A-D833-4AFB-934E-3B1BEED33C14}"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35A140E9-AC10-4487-9F1A-B0F63D96C35A}"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72cb8e0222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72cb8e0222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72cb8e0222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72cb8e022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72cb8e022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72cb8e022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72cb8e022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72cb8e022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72cb8e022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72cb8e022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7334aea4a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7334aea4a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72cb8e022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72cb8e022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72cb8e022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72cb8e022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7334aea4a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7334aea4a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72cb8e022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72cb8e022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7332d0c8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7332d0c8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hyperlink" Target="https://pmc.ncbi.nlm.nih.gov/articles/PMC7199286/"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hyperlink" Target="https://doi.org/10.1093/rheumatology/keaf142.004" TargetMode="External"/><Relationship Id="rId7" Type="http://schemas.openxmlformats.org/officeDocument/2006/relationships/hyperlink" Target="https://doi.org/10.1093/rheumatology/keaf142.004"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doi.org/10.12688/f1000research.22115.1" TargetMode="External"/><Relationship Id="rId4" Type="http://schemas.openxmlformats.org/officeDocument/2006/relationships/hyperlink" Target="https://doi.org/10.1093/rheumatology/keaf142.004" TargetMode="External"/><Relationship Id="rId5" Type="http://schemas.openxmlformats.org/officeDocument/2006/relationships/hyperlink" Target="https://doi.org/10.1093/rheumatology/keaf142.004" TargetMode="External"/><Relationship Id="rId6" Type="http://schemas.openxmlformats.org/officeDocument/2006/relationships/hyperlink" Target="https://doi.org/10.1002/acr.22415" TargetMode="External"/><Relationship Id="rId7" Type="http://schemas.openxmlformats.org/officeDocument/2006/relationships/hyperlink" Target="https://doi.org/10.1002/acr.22415" TargetMode="External"/><Relationship Id="rId8" Type="http://schemas.openxmlformats.org/officeDocument/2006/relationships/hyperlink" Target="https://doi.org/10.1186/s13075-016-1151-6"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doi.org/10.1186/s12917-022-03434-x" TargetMode="External"/><Relationship Id="rId4" Type="http://schemas.openxmlformats.org/officeDocument/2006/relationships/hyperlink" Target="https://doi.org/10.1177/1759720X211066689" TargetMode="External"/><Relationship Id="rId5" Type="http://schemas.openxmlformats.org/officeDocument/2006/relationships/hyperlink" Target="https://doi.org/10.1016/j.ostima.2025.10035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500"/>
              <a:t>Efficacy of osteoarthritis treatments and possible advancements in the usage of NGF inhibition</a:t>
            </a:r>
            <a:endParaRPr sz="350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Jasmine Chan (Team 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331874" y="1687350"/>
            <a:ext cx="3401400" cy="1513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 sz="1800">
                <a:solidFill>
                  <a:srgbClr val="595959"/>
                </a:solidFill>
              </a:rPr>
              <a:t>current OA treatments limited (relieve pain, improve range of motion, promote partial regeneration)</a:t>
            </a:r>
            <a:endParaRPr sz="1800">
              <a:solidFill>
                <a:srgbClr val="595959"/>
              </a:solidFill>
            </a:endParaRPr>
          </a:p>
        </p:txBody>
      </p:sp>
      <p:pic>
        <p:nvPicPr>
          <p:cNvPr id="61" name="Google Shape;61;p14"/>
          <p:cNvPicPr preferRelativeResize="0"/>
          <p:nvPr/>
        </p:nvPicPr>
        <p:blipFill>
          <a:blip r:embed="rId3">
            <a:alphaModFix/>
          </a:blip>
          <a:stretch>
            <a:fillRect/>
          </a:stretch>
        </p:blipFill>
        <p:spPr>
          <a:xfrm>
            <a:off x="3920450" y="788986"/>
            <a:ext cx="4867275" cy="2838450"/>
          </a:xfrm>
          <a:prstGeom prst="rect">
            <a:avLst/>
          </a:prstGeom>
          <a:noFill/>
          <a:ln>
            <a:noFill/>
          </a:ln>
        </p:spPr>
      </p:pic>
      <p:sp>
        <p:nvSpPr>
          <p:cNvPr id="62" name="Google Shape;62;p14"/>
          <p:cNvSpPr txBox="1"/>
          <p:nvPr/>
        </p:nvSpPr>
        <p:spPr>
          <a:xfrm>
            <a:off x="3920450" y="3661825"/>
            <a:ext cx="50487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4"/>
              </a:rPr>
              <a:t>Grässel, S., &amp; Muschter, D. (2020). Recent advances in the treatment of osteoarthritis. F1000Research, 9, F1000 Faculty Rev-325. https://doi.org/10.12688/f1000research.22115.1</a:t>
            </a:r>
            <a:endParaRPr/>
          </a:p>
        </p:txBody>
      </p:sp>
      <p:sp>
        <p:nvSpPr>
          <p:cNvPr id="63" name="Google Shape;63;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Background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id="68" name="Google Shape;68;p15" title="Chart"/>
          <p:cNvPicPr preferRelativeResize="0"/>
          <p:nvPr/>
        </p:nvPicPr>
        <p:blipFill rotWithShape="1">
          <a:blip r:embed="rId3">
            <a:alphaModFix/>
          </a:blip>
          <a:srcRect b="0" l="6227" r="0" t="11879"/>
          <a:stretch/>
        </p:blipFill>
        <p:spPr>
          <a:xfrm>
            <a:off x="391525" y="429900"/>
            <a:ext cx="3900024" cy="2266326"/>
          </a:xfrm>
          <a:prstGeom prst="rect">
            <a:avLst/>
          </a:prstGeom>
          <a:noFill/>
          <a:ln>
            <a:noFill/>
          </a:ln>
        </p:spPr>
      </p:pic>
      <p:pic>
        <p:nvPicPr>
          <p:cNvPr id="69" name="Google Shape;69;p15" title="Chart"/>
          <p:cNvPicPr preferRelativeResize="0"/>
          <p:nvPr/>
        </p:nvPicPr>
        <p:blipFill rotWithShape="1">
          <a:blip r:embed="rId4">
            <a:alphaModFix/>
          </a:blip>
          <a:srcRect b="0" l="0" r="0" t="18699"/>
          <a:stretch/>
        </p:blipFill>
        <p:spPr>
          <a:xfrm>
            <a:off x="4701900" y="583450"/>
            <a:ext cx="4310751" cy="2167100"/>
          </a:xfrm>
          <a:prstGeom prst="rect">
            <a:avLst/>
          </a:prstGeom>
          <a:noFill/>
          <a:ln>
            <a:noFill/>
          </a:ln>
        </p:spPr>
      </p:pic>
      <p:pic>
        <p:nvPicPr>
          <p:cNvPr id="70" name="Google Shape;70;p15" title="Chart"/>
          <p:cNvPicPr preferRelativeResize="0"/>
          <p:nvPr/>
        </p:nvPicPr>
        <p:blipFill rotWithShape="1">
          <a:blip r:embed="rId5">
            <a:alphaModFix/>
          </a:blip>
          <a:srcRect b="0" l="0" r="0" t="18805"/>
          <a:stretch/>
        </p:blipFill>
        <p:spPr>
          <a:xfrm>
            <a:off x="114303" y="3017000"/>
            <a:ext cx="4159149" cy="2088099"/>
          </a:xfrm>
          <a:prstGeom prst="rect">
            <a:avLst/>
          </a:prstGeom>
          <a:noFill/>
          <a:ln>
            <a:noFill/>
          </a:ln>
        </p:spPr>
      </p:pic>
      <p:sp>
        <p:nvSpPr>
          <p:cNvPr id="71" name="Google Shape;71;p15"/>
          <p:cNvSpPr txBox="1"/>
          <p:nvPr/>
        </p:nvSpPr>
        <p:spPr>
          <a:xfrm>
            <a:off x="132400" y="69075"/>
            <a:ext cx="442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rPr>
              <a:t>WOMAC Pain Score</a:t>
            </a:r>
            <a:endParaRPr b="1" sz="1800">
              <a:solidFill>
                <a:schemeClr val="dk1"/>
              </a:solidFill>
            </a:endParaRPr>
          </a:p>
        </p:txBody>
      </p:sp>
      <p:sp>
        <p:nvSpPr>
          <p:cNvPr id="72" name="Google Shape;72;p15"/>
          <p:cNvSpPr txBox="1"/>
          <p:nvPr/>
        </p:nvSpPr>
        <p:spPr>
          <a:xfrm>
            <a:off x="4837200" y="69075"/>
            <a:ext cx="442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rPr>
              <a:t>WOMAC Physical Function Score</a:t>
            </a:r>
            <a:endParaRPr b="1" sz="1800">
              <a:solidFill>
                <a:schemeClr val="dk1"/>
              </a:solidFill>
            </a:endParaRPr>
          </a:p>
        </p:txBody>
      </p:sp>
      <p:sp>
        <p:nvSpPr>
          <p:cNvPr id="73" name="Google Shape;73;p15"/>
          <p:cNvSpPr txBox="1"/>
          <p:nvPr/>
        </p:nvSpPr>
        <p:spPr>
          <a:xfrm>
            <a:off x="262328" y="2571750"/>
            <a:ext cx="442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rPr>
              <a:t>PGA </a:t>
            </a:r>
            <a:r>
              <a:rPr lang="en">
                <a:solidFill>
                  <a:schemeClr val="dk1"/>
                </a:solidFill>
              </a:rPr>
              <a:t>(Patient General Assessment)</a:t>
            </a:r>
            <a:endParaRPr>
              <a:solidFill>
                <a:schemeClr val="dk1"/>
              </a:solidFill>
            </a:endParaRPr>
          </a:p>
        </p:txBody>
      </p:sp>
      <p:sp>
        <p:nvSpPr>
          <p:cNvPr id="74" name="Google Shape;74;p15"/>
          <p:cNvSpPr txBox="1"/>
          <p:nvPr/>
        </p:nvSpPr>
        <p:spPr>
          <a:xfrm>
            <a:off x="4624700" y="2842402"/>
            <a:ext cx="4221000" cy="157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1000"/>
              </a:spcAft>
              <a:buNone/>
            </a:pPr>
            <a:r>
              <a:rPr lang="en" sz="1000">
                <a:solidFill>
                  <a:schemeClr val="dk1"/>
                </a:solidFill>
              </a:rPr>
              <a:t>Philip G Conaghan, Ali Guermazi, Nathaniel Katz, Asger R Bihlet, Dror Rom, Michael C Perkins, Bernadette Hughes, Claire Herholdt, Iwona Bombelka, Simon Westbrook, OA04 A randomised controlled Phase II trial of LEVI-04, a novel neurotrophin-3 inhibitor, in knee osteoarthritis demonstrates substantially improved pain and function without deleterious effects on joint structure, </a:t>
            </a:r>
            <a:r>
              <a:rPr i="1" lang="en" sz="1000">
                <a:solidFill>
                  <a:schemeClr val="dk1"/>
                </a:solidFill>
              </a:rPr>
              <a:t>Rheumatology</a:t>
            </a:r>
            <a:r>
              <a:rPr lang="en" sz="1000">
                <a:solidFill>
                  <a:schemeClr val="dk1"/>
                </a:solidFill>
              </a:rPr>
              <a:t>, Volume 64, Issue Supplement_3, April 2025, keaf142.004,</a:t>
            </a:r>
            <a:r>
              <a:rPr lang="en" sz="1000">
                <a:solidFill>
                  <a:schemeClr val="dk1"/>
                </a:solidFill>
                <a:uFill>
                  <a:noFill/>
                </a:uFill>
                <a:hlinkClick r:id="rId6">
                  <a:extLst>
                    <a:ext uri="{A12FA001-AC4F-418D-AE19-62706E023703}">
                      <ahyp:hlinkClr val="tx"/>
                    </a:ext>
                  </a:extLst>
                </a:hlinkClick>
              </a:rPr>
              <a:t> </a:t>
            </a:r>
            <a:r>
              <a:rPr lang="en" sz="1000" u="sng">
                <a:solidFill>
                  <a:srgbClr val="1155CC"/>
                </a:solidFill>
                <a:hlinkClick r:id="rId7">
                  <a:extLst>
                    <a:ext uri="{A12FA001-AC4F-418D-AE19-62706E023703}">
                      <ahyp:hlinkClr val="tx"/>
                    </a:ext>
                  </a:extLst>
                </a:hlinkClick>
              </a:rPr>
              <a:t>https://doi.org/10.1093/rheumatology/keaf142.004</a:t>
            </a:r>
            <a:endParaRPr sz="1000"/>
          </a:p>
        </p:txBody>
      </p:sp>
      <p:sp>
        <p:nvSpPr>
          <p:cNvPr id="75" name="Google Shape;75;p15"/>
          <p:cNvSpPr txBox="1"/>
          <p:nvPr/>
        </p:nvSpPr>
        <p:spPr>
          <a:xfrm>
            <a:off x="4624700" y="4511950"/>
            <a:ext cx="4591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2"/>
                </a:solidFill>
              </a:rPr>
              <a:t>abbreviation:</a:t>
            </a:r>
            <a:endParaRPr sz="1100">
              <a:solidFill>
                <a:schemeClr val="dk2"/>
              </a:solidFill>
            </a:endParaRPr>
          </a:p>
          <a:p>
            <a:pPr indent="0" lvl="0" marL="0" rtl="0" algn="l">
              <a:spcBef>
                <a:spcPts val="0"/>
              </a:spcBef>
              <a:spcAft>
                <a:spcPts val="0"/>
              </a:spcAft>
              <a:buNone/>
            </a:pPr>
            <a:r>
              <a:rPr lang="en" sz="1100">
                <a:solidFill>
                  <a:schemeClr val="dk2"/>
                </a:solidFill>
              </a:rPr>
              <a:t>WOMAC = Western Ontario and McMaster Universities Arthritis Index</a:t>
            </a:r>
            <a:endParaRPr sz="11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89075" y="30684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Paper Deconstruction</a:t>
            </a:r>
            <a:endParaRPr/>
          </a:p>
        </p:txBody>
      </p:sp>
      <p:pic>
        <p:nvPicPr>
          <p:cNvPr id="81" name="Google Shape;81;p16"/>
          <p:cNvPicPr preferRelativeResize="0"/>
          <p:nvPr/>
        </p:nvPicPr>
        <p:blipFill>
          <a:blip r:embed="rId3">
            <a:alphaModFix/>
          </a:blip>
          <a:stretch>
            <a:fillRect/>
          </a:stretch>
        </p:blipFill>
        <p:spPr>
          <a:xfrm>
            <a:off x="204175" y="1040759"/>
            <a:ext cx="5735050" cy="3671175"/>
          </a:xfrm>
          <a:prstGeom prst="rect">
            <a:avLst/>
          </a:prstGeom>
          <a:noFill/>
          <a:ln>
            <a:noFill/>
          </a:ln>
        </p:spPr>
      </p:pic>
      <p:sp>
        <p:nvSpPr>
          <p:cNvPr id="82" name="Google Shape;82;p16"/>
          <p:cNvSpPr/>
          <p:nvPr/>
        </p:nvSpPr>
        <p:spPr>
          <a:xfrm>
            <a:off x="3308725" y="626184"/>
            <a:ext cx="3001800" cy="3147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6"/>
          <p:cNvSpPr/>
          <p:nvPr/>
        </p:nvSpPr>
        <p:spPr>
          <a:xfrm>
            <a:off x="3671738" y="1098875"/>
            <a:ext cx="21990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enrollment (N=518)</a:t>
            </a:r>
            <a:endParaRPr/>
          </a:p>
          <a:p>
            <a:pPr indent="0" lvl="0" marL="0" rtl="0" algn="ctr">
              <a:spcBef>
                <a:spcPts val="0"/>
              </a:spcBef>
              <a:spcAft>
                <a:spcPts val="0"/>
              </a:spcAft>
              <a:buNone/>
            </a:pPr>
            <a:r>
              <a:rPr lang="en"/>
              <a:t>patients w/ knee OA</a:t>
            </a:r>
            <a:endParaRPr/>
          </a:p>
        </p:txBody>
      </p:sp>
      <p:sp>
        <p:nvSpPr>
          <p:cNvPr id="84" name="Google Shape;84;p16"/>
          <p:cNvSpPr/>
          <p:nvPr/>
        </p:nvSpPr>
        <p:spPr>
          <a:xfrm>
            <a:off x="3710109" y="2062739"/>
            <a:ext cx="909300" cy="342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placebo</a:t>
            </a:r>
            <a:endParaRPr/>
          </a:p>
        </p:txBody>
      </p:sp>
      <p:sp>
        <p:nvSpPr>
          <p:cNvPr id="85" name="Google Shape;85;p16"/>
          <p:cNvSpPr/>
          <p:nvPr/>
        </p:nvSpPr>
        <p:spPr>
          <a:xfrm>
            <a:off x="3583484" y="2600400"/>
            <a:ext cx="1094400" cy="449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0.3 mg/kg LEVI-04</a:t>
            </a:r>
            <a:endParaRPr/>
          </a:p>
        </p:txBody>
      </p:sp>
      <p:sp>
        <p:nvSpPr>
          <p:cNvPr id="86" name="Google Shape;86;p16"/>
          <p:cNvSpPr/>
          <p:nvPr/>
        </p:nvSpPr>
        <p:spPr>
          <a:xfrm>
            <a:off x="4941351" y="2600400"/>
            <a:ext cx="1094400" cy="449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 mg/kg LEVI-04</a:t>
            </a:r>
            <a:endParaRPr/>
          </a:p>
        </p:txBody>
      </p:sp>
      <p:sp>
        <p:nvSpPr>
          <p:cNvPr id="87" name="Google Shape;87;p16"/>
          <p:cNvSpPr/>
          <p:nvPr/>
        </p:nvSpPr>
        <p:spPr>
          <a:xfrm>
            <a:off x="4941354" y="2009050"/>
            <a:ext cx="1094400" cy="449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2.0 mg/kg LEVI-04</a:t>
            </a:r>
            <a:endParaRPr/>
          </a:p>
        </p:txBody>
      </p:sp>
      <p:cxnSp>
        <p:nvCxnSpPr>
          <p:cNvPr id="88" name="Google Shape;88;p16"/>
          <p:cNvCxnSpPr/>
          <p:nvPr/>
        </p:nvCxnSpPr>
        <p:spPr>
          <a:xfrm>
            <a:off x="4765538" y="1681438"/>
            <a:ext cx="11400" cy="327600"/>
          </a:xfrm>
          <a:prstGeom prst="straightConnector1">
            <a:avLst/>
          </a:prstGeom>
          <a:noFill/>
          <a:ln cap="flat" cmpd="sng" w="9525">
            <a:solidFill>
              <a:schemeClr val="dk2"/>
            </a:solidFill>
            <a:prstDash val="solid"/>
            <a:round/>
            <a:headEnd len="med" w="med" type="none"/>
            <a:tailEnd len="med" w="med" type="triangle"/>
          </a:ln>
        </p:spPr>
      </p:cxnSp>
      <p:sp>
        <p:nvSpPr>
          <p:cNvPr id="89" name="Google Shape;89;p16"/>
          <p:cNvSpPr/>
          <p:nvPr/>
        </p:nvSpPr>
        <p:spPr>
          <a:xfrm>
            <a:off x="6948925" y="760300"/>
            <a:ext cx="1454700" cy="93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4-weekly IV of group amount from wk0-wk16</a:t>
            </a:r>
            <a:endParaRPr/>
          </a:p>
        </p:txBody>
      </p:sp>
      <p:sp>
        <p:nvSpPr>
          <p:cNvPr id="90" name="Google Shape;90;p16"/>
          <p:cNvSpPr/>
          <p:nvPr/>
        </p:nvSpPr>
        <p:spPr>
          <a:xfrm>
            <a:off x="6948925" y="3795750"/>
            <a:ext cx="14547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safety follow-up to wk30</a:t>
            </a:r>
            <a:endParaRPr/>
          </a:p>
        </p:txBody>
      </p:sp>
      <p:sp>
        <p:nvSpPr>
          <p:cNvPr id="91" name="Google Shape;91;p16"/>
          <p:cNvSpPr/>
          <p:nvPr/>
        </p:nvSpPr>
        <p:spPr>
          <a:xfrm>
            <a:off x="6838525" y="3050025"/>
            <a:ext cx="1675500" cy="449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X-rays + MRI of knees at wk20</a:t>
            </a:r>
            <a:endParaRPr/>
          </a:p>
        </p:txBody>
      </p:sp>
      <p:sp>
        <p:nvSpPr>
          <p:cNvPr id="92" name="Google Shape;92;p16"/>
          <p:cNvSpPr/>
          <p:nvPr/>
        </p:nvSpPr>
        <p:spPr>
          <a:xfrm>
            <a:off x="6948925" y="1990200"/>
            <a:ext cx="1454700" cy="76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change in pain measure until wk17 endpoint</a:t>
            </a:r>
            <a:endParaRPr/>
          </a:p>
        </p:txBody>
      </p:sp>
      <p:cxnSp>
        <p:nvCxnSpPr>
          <p:cNvPr id="93" name="Google Shape;93;p16"/>
          <p:cNvCxnSpPr>
            <a:endCxn id="92" idx="0"/>
          </p:cNvCxnSpPr>
          <p:nvPr/>
        </p:nvCxnSpPr>
        <p:spPr>
          <a:xfrm>
            <a:off x="7676275" y="1694100"/>
            <a:ext cx="0" cy="296100"/>
          </a:xfrm>
          <a:prstGeom prst="straightConnector1">
            <a:avLst/>
          </a:prstGeom>
          <a:noFill/>
          <a:ln cap="flat" cmpd="sng" w="9525">
            <a:solidFill>
              <a:schemeClr val="dk2"/>
            </a:solidFill>
            <a:prstDash val="solid"/>
            <a:round/>
            <a:headEnd len="med" w="med" type="none"/>
            <a:tailEnd len="med" w="med" type="triangle"/>
          </a:ln>
        </p:spPr>
      </p:cxnSp>
      <p:cxnSp>
        <p:nvCxnSpPr>
          <p:cNvPr id="94" name="Google Shape;94;p16"/>
          <p:cNvCxnSpPr>
            <a:stCxn id="92" idx="2"/>
            <a:endCxn id="91" idx="0"/>
          </p:cNvCxnSpPr>
          <p:nvPr/>
        </p:nvCxnSpPr>
        <p:spPr>
          <a:xfrm>
            <a:off x="7676275" y="2754000"/>
            <a:ext cx="0" cy="296100"/>
          </a:xfrm>
          <a:prstGeom prst="straightConnector1">
            <a:avLst/>
          </a:prstGeom>
          <a:noFill/>
          <a:ln cap="flat" cmpd="sng" w="9525">
            <a:solidFill>
              <a:schemeClr val="dk2"/>
            </a:solidFill>
            <a:prstDash val="solid"/>
            <a:round/>
            <a:headEnd len="med" w="med" type="none"/>
            <a:tailEnd len="med" w="med" type="triangle"/>
          </a:ln>
        </p:spPr>
      </p:cxnSp>
      <p:cxnSp>
        <p:nvCxnSpPr>
          <p:cNvPr id="95" name="Google Shape;95;p16"/>
          <p:cNvCxnSpPr>
            <a:stCxn id="91" idx="2"/>
            <a:endCxn id="90" idx="0"/>
          </p:cNvCxnSpPr>
          <p:nvPr/>
        </p:nvCxnSpPr>
        <p:spPr>
          <a:xfrm>
            <a:off x="7676275" y="3499725"/>
            <a:ext cx="0" cy="296100"/>
          </a:xfrm>
          <a:prstGeom prst="straightConnector1">
            <a:avLst/>
          </a:prstGeom>
          <a:noFill/>
          <a:ln cap="flat" cmpd="sng" w="9525">
            <a:solidFill>
              <a:schemeClr val="dk2"/>
            </a:solidFill>
            <a:prstDash val="solid"/>
            <a:round/>
            <a:headEnd len="med" w="med" type="none"/>
            <a:tailEnd len="med" w="med" type="triangle"/>
          </a:ln>
        </p:spPr>
      </p:cxnSp>
      <p:cxnSp>
        <p:nvCxnSpPr>
          <p:cNvPr id="96" name="Google Shape;96;p16"/>
          <p:cNvCxnSpPr>
            <a:endCxn id="89" idx="1"/>
          </p:cNvCxnSpPr>
          <p:nvPr/>
        </p:nvCxnSpPr>
        <p:spPr>
          <a:xfrm>
            <a:off x="6507025" y="1220950"/>
            <a:ext cx="441900" cy="6300"/>
          </a:xfrm>
          <a:prstGeom prst="straightConnector1">
            <a:avLst/>
          </a:prstGeom>
          <a:noFill/>
          <a:ln cap="flat" cmpd="sng" w="9525">
            <a:solidFill>
              <a:schemeClr val="dk2"/>
            </a:solidFill>
            <a:prstDash val="solid"/>
            <a:round/>
            <a:headEnd len="med" w="med" type="none"/>
            <a:tailEnd len="med" w="med" type="triangle"/>
          </a:ln>
        </p:spPr>
      </p:cxnSp>
      <p:cxnSp>
        <p:nvCxnSpPr>
          <p:cNvPr id="97" name="Google Shape;97;p16"/>
          <p:cNvCxnSpPr/>
          <p:nvPr/>
        </p:nvCxnSpPr>
        <p:spPr>
          <a:xfrm>
            <a:off x="6507150" y="1220850"/>
            <a:ext cx="26100" cy="1402800"/>
          </a:xfrm>
          <a:prstGeom prst="straightConnector1">
            <a:avLst/>
          </a:prstGeom>
          <a:noFill/>
          <a:ln cap="flat" cmpd="sng" w="9525">
            <a:solidFill>
              <a:schemeClr val="dk2"/>
            </a:solidFill>
            <a:prstDash val="solid"/>
            <a:round/>
            <a:headEnd len="med" w="med" type="none"/>
            <a:tailEnd len="med" w="med" type="none"/>
          </a:ln>
        </p:spPr>
      </p:cxnSp>
      <p:cxnSp>
        <p:nvCxnSpPr>
          <p:cNvPr id="98" name="Google Shape;98;p16"/>
          <p:cNvCxnSpPr/>
          <p:nvPr/>
        </p:nvCxnSpPr>
        <p:spPr>
          <a:xfrm flipH="1">
            <a:off x="6286475" y="2636700"/>
            <a:ext cx="259800" cy="129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Hypothesis + Aim</a:t>
            </a:r>
            <a:endParaRPr/>
          </a:p>
        </p:txBody>
      </p:sp>
      <p:sp>
        <p:nvSpPr>
          <p:cNvPr id="104" name="Google Shape;10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Hypothesis:</a:t>
            </a:r>
            <a:r>
              <a:rPr lang="en"/>
              <a:t> NGF and other neurotrophic factors are main factors behind OA, so inhibition will be a more effective treatment than placebo or current physical therapy. Certain inhibitors will likely show less side effects based on previous studies, although efficacy may be more similar.</a:t>
            </a:r>
            <a:endParaRPr/>
          </a:p>
          <a:p>
            <a:pPr indent="0" lvl="0" marL="0" rtl="0" algn="l">
              <a:spcBef>
                <a:spcPts val="1200"/>
              </a:spcBef>
              <a:spcAft>
                <a:spcPts val="1200"/>
              </a:spcAft>
              <a:buNone/>
            </a:pPr>
            <a:r>
              <a:rPr b="1" lang="en"/>
              <a:t>Aims:</a:t>
            </a:r>
            <a:r>
              <a:rPr lang="en"/>
              <a:t> Compare various treatments, existing and experimental, of OA and determine efficacy of pain reduction and severity of effects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Study Design</a:t>
            </a:r>
            <a:endParaRPr/>
          </a:p>
        </p:txBody>
      </p:sp>
      <p:graphicFrame>
        <p:nvGraphicFramePr>
          <p:cNvPr id="110" name="Google Shape;110;p18"/>
          <p:cNvGraphicFramePr/>
          <p:nvPr/>
        </p:nvGraphicFramePr>
        <p:xfrm>
          <a:off x="493550" y="1186111"/>
          <a:ext cx="3000000" cy="3000000"/>
        </p:xfrm>
        <a:graphic>
          <a:graphicData uri="http://schemas.openxmlformats.org/drawingml/2006/table">
            <a:tbl>
              <a:tblPr>
                <a:noFill/>
                <a:tableStyleId>{0CC20A3A-D833-4AFB-934E-3B1BEED33C14}</a:tableStyleId>
              </a:tblPr>
              <a:tblGrid>
                <a:gridCol w="1808000"/>
              </a:tblGrid>
              <a:tr h="599875">
                <a:tc>
                  <a:txBody>
                    <a:bodyPr/>
                    <a:lstStyle/>
                    <a:p>
                      <a:pPr indent="0" lvl="0" marL="0" marR="0" rtl="0" algn="ctr">
                        <a:lnSpc>
                          <a:spcPct val="115000"/>
                        </a:lnSpc>
                        <a:spcBef>
                          <a:spcPts val="0"/>
                        </a:spcBef>
                        <a:spcAft>
                          <a:spcPts val="0"/>
                        </a:spcAft>
                        <a:buNone/>
                      </a:pPr>
                      <a:r>
                        <a:rPr b="1" lang="en" sz="1700"/>
                        <a:t>Experimental Groups</a:t>
                      </a:r>
                      <a:endParaRPr b="1" sz="1700" u="none" cap="none" strike="noStrike">
                        <a:solidFill>
                          <a:srgbClr val="000000"/>
                        </a:solidFill>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r h="651025">
                <a:tc>
                  <a:txBody>
                    <a:bodyPr/>
                    <a:lstStyle/>
                    <a:p>
                      <a:pPr indent="0" lvl="0" marL="0" rtl="0" algn="ctr">
                        <a:spcBef>
                          <a:spcPts val="0"/>
                        </a:spcBef>
                        <a:spcAft>
                          <a:spcPts val="0"/>
                        </a:spcAft>
                        <a:buNone/>
                      </a:pPr>
                      <a:r>
                        <a:rPr lang="en" sz="1600"/>
                        <a:t>OA Rabbit w/ placebo</a:t>
                      </a:r>
                      <a:endParaRPr sz="1600"/>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r h="651025">
                <a:tc>
                  <a:txBody>
                    <a:bodyPr/>
                    <a:lstStyle/>
                    <a:p>
                      <a:pPr indent="0" lvl="0" marL="0" rtl="0" algn="ctr">
                        <a:spcBef>
                          <a:spcPts val="0"/>
                        </a:spcBef>
                        <a:spcAft>
                          <a:spcPts val="0"/>
                        </a:spcAft>
                        <a:buNone/>
                      </a:pPr>
                      <a:r>
                        <a:rPr lang="en" sz="1600"/>
                        <a:t>OA Rabbit w/ physical therapy</a:t>
                      </a:r>
                      <a:endParaRPr sz="1600"/>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r h="651025">
                <a:tc>
                  <a:txBody>
                    <a:bodyPr/>
                    <a:lstStyle/>
                    <a:p>
                      <a:pPr indent="0" lvl="0" marL="0" rtl="0" algn="ctr">
                        <a:spcBef>
                          <a:spcPts val="0"/>
                        </a:spcBef>
                        <a:spcAft>
                          <a:spcPts val="0"/>
                        </a:spcAft>
                        <a:buNone/>
                      </a:pPr>
                      <a:r>
                        <a:rPr lang="en" sz="1600"/>
                        <a:t>OA Rabbit w/ 5mg tanezumab</a:t>
                      </a:r>
                      <a:endParaRPr sz="1600"/>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r h="651025">
                <a:tc>
                  <a:txBody>
                    <a:bodyPr/>
                    <a:lstStyle/>
                    <a:p>
                      <a:pPr indent="0" lvl="0" marL="0" rtl="0" algn="ctr">
                        <a:spcBef>
                          <a:spcPts val="0"/>
                        </a:spcBef>
                        <a:spcAft>
                          <a:spcPts val="0"/>
                        </a:spcAft>
                        <a:buClr>
                          <a:srgbClr val="000000"/>
                        </a:buClr>
                        <a:buSzPts val="1100"/>
                        <a:buFont typeface="Arial"/>
                        <a:buNone/>
                      </a:pPr>
                      <a:r>
                        <a:rPr lang="en" sz="1600"/>
                        <a:t>OA Rabbit with 2mg/kg LEVI-04</a:t>
                      </a:r>
                      <a:endParaRPr sz="1600"/>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bl>
          </a:graphicData>
        </a:graphic>
      </p:graphicFrame>
      <p:sp>
        <p:nvSpPr>
          <p:cNvPr id="111" name="Google Shape;111;p18"/>
          <p:cNvSpPr txBox="1"/>
          <p:nvPr/>
        </p:nvSpPr>
        <p:spPr>
          <a:xfrm>
            <a:off x="2601200" y="331925"/>
            <a:ext cx="63870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rPr>
              <a:t>metrics:</a:t>
            </a:r>
            <a:r>
              <a:rPr lang="en" sz="1600">
                <a:solidFill>
                  <a:schemeClr val="dk1"/>
                </a:solidFill>
              </a:rPr>
              <a:t> </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BRPS (Bristol Rabbit Pain Scale) 0-18</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observation of whether movement worsens (gait analysis)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MRI + </a:t>
            </a:r>
            <a:r>
              <a:rPr lang="en" sz="1600">
                <a:solidFill>
                  <a:schemeClr val="dk1"/>
                </a:solidFill>
              </a:rPr>
              <a:t>x-ray</a:t>
            </a:r>
            <a:r>
              <a:rPr lang="en" sz="1600">
                <a:solidFill>
                  <a:schemeClr val="dk1"/>
                </a:solidFill>
              </a:rPr>
              <a:t> of joint</a:t>
            </a:r>
            <a:endParaRPr sz="1600">
              <a:solidFill>
                <a:schemeClr val="dk1"/>
              </a:solidFill>
            </a:endParaRPr>
          </a:p>
        </p:txBody>
      </p:sp>
      <p:sp>
        <p:nvSpPr>
          <p:cNvPr id="112" name="Google Shape;112;p18"/>
          <p:cNvSpPr txBox="1"/>
          <p:nvPr/>
        </p:nvSpPr>
        <p:spPr>
          <a:xfrm>
            <a:off x="2601200" y="1466936"/>
            <a:ext cx="6387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rPr>
              <a:t>statistical analysis:</a:t>
            </a:r>
            <a:endParaRPr sz="1600">
              <a:solidFill>
                <a:schemeClr val="dk1"/>
              </a:solidFill>
            </a:endParaRPr>
          </a:p>
          <a:p>
            <a:pPr indent="0" lvl="0" marL="0" rtl="0" algn="l">
              <a:spcBef>
                <a:spcPts val="0"/>
              </a:spcBef>
              <a:spcAft>
                <a:spcPts val="0"/>
              </a:spcAft>
              <a:buNone/>
            </a:pPr>
            <a:r>
              <a:rPr lang="en" sz="1600">
                <a:solidFill>
                  <a:schemeClr val="dk1"/>
                </a:solidFill>
              </a:rPr>
              <a:t>2-</a:t>
            </a:r>
            <a:r>
              <a:rPr lang="en" sz="1600">
                <a:solidFill>
                  <a:schemeClr val="dk1"/>
                </a:solidFill>
              </a:rPr>
              <a:t>way ANOVA in comparison of variables in all four groups over time</a:t>
            </a:r>
            <a:endParaRPr sz="1600">
              <a:solidFill>
                <a:schemeClr val="dk1"/>
              </a:solidFill>
            </a:endParaRPr>
          </a:p>
        </p:txBody>
      </p:sp>
      <p:sp>
        <p:nvSpPr>
          <p:cNvPr id="113" name="Google Shape;113;p18"/>
          <p:cNvSpPr txBox="1"/>
          <p:nvPr/>
        </p:nvSpPr>
        <p:spPr>
          <a:xfrm>
            <a:off x="2601200" y="2079800"/>
            <a:ext cx="61143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rPr>
              <a:t>methods</a:t>
            </a:r>
            <a:r>
              <a:rPr b="1" lang="en" sz="1600">
                <a:solidFill>
                  <a:schemeClr val="dk1"/>
                </a:solidFill>
              </a:rPr>
              <a:t>:</a:t>
            </a:r>
            <a:r>
              <a:rPr lang="en" sz="1600">
                <a:solidFill>
                  <a:schemeClr val="dk1"/>
                </a:solidFill>
              </a:rPr>
              <a:t> </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 sz="1600">
                <a:solidFill>
                  <a:schemeClr val="dk1"/>
                </a:solidFill>
              </a:rPr>
              <a:t>randomize 40 mature rabbits induced with knee joint OA into the four groups</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 sz="1600">
                <a:solidFill>
                  <a:schemeClr val="dk1"/>
                </a:solidFill>
              </a:rPr>
              <a:t>all groups with IV treatment required (placebo, tanezumab, LEVI-04) receive 4-weekly IV. physical therapy: acupuncture focused on the knee joint at regular intervals 2 times a week. </a:t>
            </a:r>
            <a:br>
              <a:rPr lang="en" sz="1600">
                <a:solidFill>
                  <a:schemeClr val="dk1"/>
                </a:solidFill>
              </a:rPr>
            </a:br>
            <a:r>
              <a:rPr lang="en" sz="1600">
                <a:solidFill>
                  <a:schemeClr val="dk1"/>
                </a:solidFill>
              </a:rPr>
              <a:t>all over span of 16 weeks.</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 sz="1600">
                <a:solidFill>
                  <a:schemeClr val="dk1"/>
                </a:solidFill>
              </a:rPr>
              <a:t>measure BRPS weekly, scans prior and after experiment for comparison</a:t>
            </a:r>
            <a:endParaRPr sz="16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9"/>
          <p:cNvSpPr/>
          <p:nvPr/>
        </p:nvSpPr>
        <p:spPr>
          <a:xfrm>
            <a:off x="746750" y="1356083"/>
            <a:ext cx="2199000" cy="93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rabbits with knee OA (N=40)</a:t>
            </a:r>
            <a:endParaRPr/>
          </a:p>
          <a:p>
            <a:pPr indent="0" lvl="0" marL="0" rtl="0" algn="ctr">
              <a:spcBef>
                <a:spcPts val="1000"/>
              </a:spcBef>
              <a:spcAft>
                <a:spcPts val="0"/>
              </a:spcAft>
              <a:buNone/>
            </a:pPr>
            <a:r>
              <a:rPr lang="en"/>
              <a:t>X-rays + MRI (wk 0)</a:t>
            </a:r>
            <a:endParaRPr/>
          </a:p>
        </p:txBody>
      </p:sp>
      <p:sp>
        <p:nvSpPr>
          <p:cNvPr id="119" name="Google Shape;119;p19"/>
          <p:cNvSpPr/>
          <p:nvPr/>
        </p:nvSpPr>
        <p:spPr>
          <a:xfrm>
            <a:off x="785122" y="2681126"/>
            <a:ext cx="909300" cy="342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placebo</a:t>
            </a:r>
            <a:endParaRPr/>
          </a:p>
        </p:txBody>
      </p:sp>
      <p:sp>
        <p:nvSpPr>
          <p:cNvPr id="120" name="Google Shape;120;p19"/>
          <p:cNvSpPr/>
          <p:nvPr/>
        </p:nvSpPr>
        <p:spPr>
          <a:xfrm>
            <a:off x="658497" y="3218788"/>
            <a:ext cx="1094400" cy="449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physical therapy</a:t>
            </a:r>
            <a:endParaRPr/>
          </a:p>
        </p:txBody>
      </p:sp>
      <p:sp>
        <p:nvSpPr>
          <p:cNvPr id="121" name="Google Shape;121;p19"/>
          <p:cNvSpPr/>
          <p:nvPr/>
        </p:nvSpPr>
        <p:spPr>
          <a:xfrm>
            <a:off x="2016363" y="3218788"/>
            <a:ext cx="1094400" cy="449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 mg tanezumab</a:t>
            </a:r>
            <a:endParaRPr/>
          </a:p>
        </p:txBody>
      </p:sp>
      <p:sp>
        <p:nvSpPr>
          <p:cNvPr id="122" name="Google Shape;122;p19"/>
          <p:cNvSpPr/>
          <p:nvPr/>
        </p:nvSpPr>
        <p:spPr>
          <a:xfrm>
            <a:off x="2016367" y="2627438"/>
            <a:ext cx="1094400" cy="449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2.0 mg/kg LEVI-04</a:t>
            </a:r>
            <a:endParaRPr/>
          </a:p>
        </p:txBody>
      </p:sp>
      <p:cxnSp>
        <p:nvCxnSpPr>
          <p:cNvPr id="123" name="Google Shape;123;p19"/>
          <p:cNvCxnSpPr/>
          <p:nvPr/>
        </p:nvCxnSpPr>
        <p:spPr>
          <a:xfrm>
            <a:off x="1840550" y="2299825"/>
            <a:ext cx="11400" cy="327600"/>
          </a:xfrm>
          <a:prstGeom prst="straightConnector1">
            <a:avLst/>
          </a:prstGeom>
          <a:noFill/>
          <a:ln cap="flat" cmpd="sng" w="9525">
            <a:solidFill>
              <a:schemeClr val="dk2"/>
            </a:solidFill>
            <a:prstDash val="solid"/>
            <a:round/>
            <a:headEnd len="med" w="med" type="none"/>
            <a:tailEnd len="med" w="med" type="triangle"/>
          </a:ln>
        </p:spPr>
      </p:cxnSp>
      <p:sp>
        <p:nvSpPr>
          <p:cNvPr id="124" name="Google Shape;124;p19"/>
          <p:cNvSpPr/>
          <p:nvPr/>
        </p:nvSpPr>
        <p:spPr>
          <a:xfrm>
            <a:off x="4023938" y="1378688"/>
            <a:ext cx="1454700" cy="93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4-weekly IV of group amount from wk0-wk16</a:t>
            </a:r>
            <a:endParaRPr/>
          </a:p>
        </p:txBody>
      </p:sp>
      <p:sp>
        <p:nvSpPr>
          <p:cNvPr id="125" name="Google Shape;125;p19"/>
          <p:cNvSpPr/>
          <p:nvPr/>
        </p:nvSpPr>
        <p:spPr>
          <a:xfrm>
            <a:off x="6691813" y="3288113"/>
            <a:ext cx="1454700" cy="93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2-way ANOVA of BRPS over time</a:t>
            </a:r>
            <a:endParaRPr/>
          </a:p>
        </p:txBody>
      </p:sp>
      <p:sp>
        <p:nvSpPr>
          <p:cNvPr id="126" name="Google Shape;126;p19"/>
          <p:cNvSpPr/>
          <p:nvPr/>
        </p:nvSpPr>
        <p:spPr>
          <a:xfrm>
            <a:off x="6581413" y="2542388"/>
            <a:ext cx="1675500" cy="449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X-rays + MRI of knees at wk16</a:t>
            </a:r>
            <a:endParaRPr/>
          </a:p>
        </p:txBody>
      </p:sp>
      <p:sp>
        <p:nvSpPr>
          <p:cNvPr id="127" name="Google Shape;127;p19"/>
          <p:cNvSpPr/>
          <p:nvPr/>
        </p:nvSpPr>
        <p:spPr>
          <a:xfrm>
            <a:off x="6691813" y="1482563"/>
            <a:ext cx="1454700" cy="76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measure BRPS weekly to mark change</a:t>
            </a:r>
            <a:endParaRPr/>
          </a:p>
        </p:txBody>
      </p:sp>
      <p:cxnSp>
        <p:nvCxnSpPr>
          <p:cNvPr id="128" name="Google Shape;128;p19"/>
          <p:cNvCxnSpPr>
            <a:stCxn id="127" idx="2"/>
            <a:endCxn id="126" idx="0"/>
          </p:cNvCxnSpPr>
          <p:nvPr/>
        </p:nvCxnSpPr>
        <p:spPr>
          <a:xfrm>
            <a:off x="7419163" y="2246363"/>
            <a:ext cx="0" cy="296100"/>
          </a:xfrm>
          <a:prstGeom prst="straightConnector1">
            <a:avLst/>
          </a:prstGeom>
          <a:noFill/>
          <a:ln cap="flat" cmpd="sng" w="9525">
            <a:solidFill>
              <a:schemeClr val="dk2"/>
            </a:solidFill>
            <a:prstDash val="solid"/>
            <a:round/>
            <a:headEnd len="med" w="med" type="none"/>
            <a:tailEnd len="med" w="med" type="triangle"/>
          </a:ln>
        </p:spPr>
      </p:cxnSp>
      <p:cxnSp>
        <p:nvCxnSpPr>
          <p:cNvPr id="129" name="Google Shape;129;p19"/>
          <p:cNvCxnSpPr>
            <a:stCxn id="126" idx="2"/>
            <a:endCxn id="125" idx="0"/>
          </p:cNvCxnSpPr>
          <p:nvPr/>
        </p:nvCxnSpPr>
        <p:spPr>
          <a:xfrm>
            <a:off x="7419163" y="2992088"/>
            <a:ext cx="0" cy="296100"/>
          </a:xfrm>
          <a:prstGeom prst="straightConnector1">
            <a:avLst/>
          </a:prstGeom>
          <a:noFill/>
          <a:ln cap="flat" cmpd="sng" w="9525">
            <a:solidFill>
              <a:schemeClr val="dk2"/>
            </a:solidFill>
            <a:prstDash val="solid"/>
            <a:round/>
            <a:headEnd len="med" w="med" type="none"/>
            <a:tailEnd len="med" w="med" type="triangle"/>
          </a:ln>
        </p:spPr>
      </p:cxnSp>
      <p:cxnSp>
        <p:nvCxnSpPr>
          <p:cNvPr id="130" name="Google Shape;130;p19"/>
          <p:cNvCxnSpPr>
            <a:endCxn id="124" idx="1"/>
          </p:cNvCxnSpPr>
          <p:nvPr/>
        </p:nvCxnSpPr>
        <p:spPr>
          <a:xfrm>
            <a:off x="3582038" y="1839338"/>
            <a:ext cx="441900" cy="6300"/>
          </a:xfrm>
          <a:prstGeom prst="straightConnector1">
            <a:avLst/>
          </a:prstGeom>
          <a:noFill/>
          <a:ln cap="flat" cmpd="sng" w="9525">
            <a:solidFill>
              <a:schemeClr val="dk2"/>
            </a:solidFill>
            <a:prstDash val="solid"/>
            <a:round/>
            <a:headEnd len="med" w="med" type="none"/>
            <a:tailEnd len="med" w="med" type="triangle"/>
          </a:ln>
        </p:spPr>
      </p:cxnSp>
      <p:cxnSp>
        <p:nvCxnSpPr>
          <p:cNvPr id="131" name="Google Shape;131;p19"/>
          <p:cNvCxnSpPr/>
          <p:nvPr/>
        </p:nvCxnSpPr>
        <p:spPr>
          <a:xfrm>
            <a:off x="3582163" y="1839238"/>
            <a:ext cx="26100" cy="1402800"/>
          </a:xfrm>
          <a:prstGeom prst="straightConnector1">
            <a:avLst/>
          </a:prstGeom>
          <a:noFill/>
          <a:ln cap="flat" cmpd="sng" w="9525">
            <a:solidFill>
              <a:schemeClr val="dk2"/>
            </a:solidFill>
            <a:prstDash val="solid"/>
            <a:round/>
            <a:headEnd len="med" w="med" type="none"/>
            <a:tailEnd len="med" w="med" type="none"/>
          </a:ln>
        </p:spPr>
      </p:cxnSp>
      <p:cxnSp>
        <p:nvCxnSpPr>
          <p:cNvPr id="132" name="Google Shape;132;p19"/>
          <p:cNvCxnSpPr/>
          <p:nvPr/>
        </p:nvCxnSpPr>
        <p:spPr>
          <a:xfrm flipH="1">
            <a:off x="3361488" y="3255088"/>
            <a:ext cx="259800" cy="12900"/>
          </a:xfrm>
          <a:prstGeom prst="straightConnector1">
            <a:avLst/>
          </a:prstGeom>
          <a:noFill/>
          <a:ln cap="flat" cmpd="sng" w="9525">
            <a:solidFill>
              <a:schemeClr val="dk2"/>
            </a:solidFill>
            <a:prstDash val="solid"/>
            <a:round/>
            <a:headEnd len="med" w="med" type="none"/>
            <a:tailEnd len="med" w="med" type="none"/>
          </a:ln>
        </p:spPr>
      </p:cxnSp>
      <p:cxnSp>
        <p:nvCxnSpPr>
          <p:cNvPr id="133" name="Google Shape;133;p19"/>
          <p:cNvCxnSpPr/>
          <p:nvPr/>
        </p:nvCxnSpPr>
        <p:spPr>
          <a:xfrm>
            <a:off x="1205697" y="3668488"/>
            <a:ext cx="12600" cy="469800"/>
          </a:xfrm>
          <a:prstGeom prst="straightConnector1">
            <a:avLst/>
          </a:prstGeom>
          <a:noFill/>
          <a:ln cap="flat" cmpd="sng" w="9525">
            <a:solidFill>
              <a:schemeClr val="dk2"/>
            </a:solidFill>
            <a:prstDash val="solid"/>
            <a:round/>
            <a:headEnd len="med" w="med" type="none"/>
            <a:tailEnd len="med" w="med" type="none"/>
          </a:ln>
        </p:spPr>
      </p:cxnSp>
      <p:cxnSp>
        <p:nvCxnSpPr>
          <p:cNvPr id="134" name="Google Shape;134;p19"/>
          <p:cNvCxnSpPr/>
          <p:nvPr/>
        </p:nvCxnSpPr>
        <p:spPr>
          <a:xfrm flipH="1" rot="10800000">
            <a:off x="1218288" y="4138288"/>
            <a:ext cx="2403000" cy="12900"/>
          </a:xfrm>
          <a:prstGeom prst="straightConnector1">
            <a:avLst/>
          </a:prstGeom>
          <a:noFill/>
          <a:ln cap="flat" cmpd="sng" w="9525">
            <a:solidFill>
              <a:schemeClr val="dk2"/>
            </a:solidFill>
            <a:prstDash val="solid"/>
            <a:round/>
            <a:headEnd len="med" w="med" type="none"/>
            <a:tailEnd len="med" w="med" type="none"/>
          </a:ln>
        </p:spPr>
      </p:cxnSp>
      <p:cxnSp>
        <p:nvCxnSpPr>
          <p:cNvPr id="135" name="Google Shape;135;p19"/>
          <p:cNvCxnSpPr/>
          <p:nvPr/>
        </p:nvCxnSpPr>
        <p:spPr>
          <a:xfrm>
            <a:off x="3595213" y="3843838"/>
            <a:ext cx="0" cy="298800"/>
          </a:xfrm>
          <a:prstGeom prst="straightConnector1">
            <a:avLst/>
          </a:prstGeom>
          <a:noFill/>
          <a:ln cap="flat" cmpd="sng" w="9525">
            <a:solidFill>
              <a:schemeClr val="dk2"/>
            </a:solidFill>
            <a:prstDash val="solid"/>
            <a:round/>
            <a:headEnd len="med" w="med" type="none"/>
            <a:tailEnd len="med" w="med" type="none"/>
          </a:ln>
        </p:spPr>
      </p:cxnSp>
      <p:cxnSp>
        <p:nvCxnSpPr>
          <p:cNvPr id="136" name="Google Shape;136;p19"/>
          <p:cNvCxnSpPr/>
          <p:nvPr/>
        </p:nvCxnSpPr>
        <p:spPr>
          <a:xfrm flipH="1" rot="10800000">
            <a:off x="3595213" y="3839638"/>
            <a:ext cx="389700" cy="4200"/>
          </a:xfrm>
          <a:prstGeom prst="straightConnector1">
            <a:avLst/>
          </a:prstGeom>
          <a:noFill/>
          <a:ln cap="flat" cmpd="sng" w="9525">
            <a:solidFill>
              <a:schemeClr val="dk2"/>
            </a:solidFill>
            <a:prstDash val="solid"/>
            <a:round/>
            <a:headEnd len="med" w="med" type="none"/>
            <a:tailEnd len="med" w="med" type="triangle"/>
          </a:ln>
        </p:spPr>
      </p:cxnSp>
      <p:sp>
        <p:nvSpPr>
          <p:cNvPr id="137" name="Google Shape;137;p19"/>
          <p:cNvSpPr/>
          <p:nvPr/>
        </p:nvSpPr>
        <p:spPr>
          <a:xfrm>
            <a:off x="3984913" y="3555388"/>
            <a:ext cx="1740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joint PT 2 times per week</a:t>
            </a:r>
            <a:endParaRPr/>
          </a:p>
        </p:txBody>
      </p:sp>
      <p:sp>
        <p:nvSpPr>
          <p:cNvPr id="138" name="Google Shape;138;p19"/>
          <p:cNvSpPr txBox="1"/>
          <p:nvPr/>
        </p:nvSpPr>
        <p:spPr>
          <a:xfrm>
            <a:off x="4255663" y="2647638"/>
            <a:ext cx="1199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rPr>
              <a:t>process over 16 weeks</a:t>
            </a:r>
            <a:endParaRPr sz="1300">
              <a:solidFill>
                <a:schemeClr val="dk2"/>
              </a:solidFill>
            </a:endParaRPr>
          </a:p>
        </p:txBody>
      </p:sp>
      <p:sp>
        <p:nvSpPr>
          <p:cNvPr id="139" name="Google Shape;13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Study Design (Flowchart)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Anticipated Result</a:t>
            </a:r>
            <a:endParaRPr/>
          </a:p>
        </p:txBody>
      </p:sp>
      <p:graphicFrame>
        <p:nvGraphicFramePr>
          <p:cNvPr id="145" name="Google Shape;145;p20"/>
          <p:cNvGraphicFramePr/>
          <p:nvPr/>
        </p:nvGraphicFramePr>
        <p:xfrm>
          <a:off x="311700" y="1667075"/>
          <a:ext cx="3000000" cy="3000000"/>
        </p:xfrm>
        <a:graphic>
          <a:graphicData uri="http://schemas.openxmlformats.org/drawingml/2006/table">
            <a:tbl>
              <a:tblPr>
                <a:noFill/>
                <a:tableStyleId>{35A140E9-AC10-4487-9F1A-B0F63D96C35A}</a:tableStyleId>
              </a:tblPr>
              <a:tblGrid>
                <a:gridCol w="1140825"/>
                <a:gridCol w="863750"/>
                <a:gridCol w="863750"/>
                <a:gridCol w="863750"/>
              </a:tblGrid>
              <a:tr h="4715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wk0</a:t>
                      </a:r>
                      <a:endParaRPr/>
                    </a:p>
                  </a:txBody>
                  <a:tcPr marT="91425" marB="91425" marR="91425" marL="91425"/>
                </a:tc>
                <a:tc>
                  <a:txBody>
                    <a:bodyPr/>
                    <a:lstStyle/>
                    <a:p>
                      <a:pPr indent="0" lvl="0" marL="0" rtl="0" algn="ctr">
                        <a:spcBef>
                          <a:spcPts val="0"/>
                        </a:spcBef>
                        <a:spcAft>
                          <a:spcPts val="0"/>
                        </a:spcAft>
                        <a:buNone/>
                      </a:pPr>
                      <a:r>
                        <a:rPr lang="en"/>
                        <a:t>wk8</a:t>
                      </a:r>
                      <a:endParaRPr/>
                    </a:p>
                  </a:txBody>
                  <a:tcPr marT="91425" marB="91425" marR="91425" marL="91425"/>
                </a:tc>
                <a:tc>
                  <a:txBody>
                    <a:bodyPr/>
                    <a:lstStyle/>
                    <a:p>
                      <a:pPr indent="0" lvl="0" marL="0" rtl="0" algn="ctr">
                        <a:spcBef>
                          <a:spcPts val="0"/>
                        </a:spcBef>
                        <a:spcAft>
                          <a:spcPts val="0"/>
                        </a:spcAft>
                        <a:buNone/>
                      </a:pPr>
                      <a:r>
                        <a:rPr lang="en"/>
                        <a:t>wk16</a:t>
                      </a:r>
                      <a:endParaRPr/>
                    </a:p>
                  </a:txBody>
                  <a:tcPr marT="91425" marB="91425" marR="91425" marL="91425"/>
                </a:tc>
              </a:tr>
              <a:tr h="471525">
                <a:tc>
                  <a:txBody>
                    <a:bodyPr/>
                    <a:lstStyle/>
                    <a:p>
                      <a:pPr indent="0" lvl="0" marL="0" rtl="0" algn="l">
                        <a:spcBef>
                          <a:spcPts val="0"/>
                        </a:spcBef>
                        <a:spcAft>
                          <a:spcPts val="0"/>
                        </a:spcAft>
                        <a:buNone/>
                      </a:pPr>
                      <a:r>
                        <a:rPr lang="en"/>
                        <a:t>placebo</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6</a:t>
                      </a:r>
                      <a:endParaRPr/>
                    </a:p>
                  </a:txBody>
                  <a:tcPr marT="91425" marB="91425" marR="91425" marL="91425"/>
                </a:tc>
                <a:tc>
                  <a:txBody>
                    <a:bodyPr/>
                    <a:lstStyle/>
                    <a:p>
                      <a:pPr indent="0" lvl="0" marL="0" rtl="0" algn="ctr">
                        <a:spcBef>
                          <a:spcPts val="0"/>
                        </a:spcBef>
                        <a:spcAft>
                          <a:spcPts val="0"/>
                        </a:spcAft>
                        <a:buNone/>
                      </a:pPr>
                      <a:r>
                        <a:rPr lang="en"/>
                        <a:t>12</a:t>
                      </a:r>
                      <a:endParaRPr/>
                    </a:p>
                  </a:txBody>
                  <a:tcPr marT="91425" marB="91425" marR="91425" marL="91425"/>
                </a:tc>
              </a:tr>
              <a:tr h="471525">
                <a:tc>
                  <a:txBody>
                    <a:bodyPr/>
                    <a:lstStyle/>
                    <a:p>
                      <a:pPr indent="0" lvl="0" marL="0" rtl="0" algn="l">
                        <a:spcBef>
                          <a:spcPts val="0"/>
                        </a:spcBef>
                        <a:spcAft>
                          <a:spcPts val="0"/>
                        </a:spcAft>
                        <a:buNone/>
                      </a:pPr>
                      <a:r>
                        <a:rPr lang="en"/>
                        <a:t>PT</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7</a:t>
                      </a:r>
                      <a:endParaRPr/>
                    </a:p>
                  </a:txBody>
                  <a:tcPr marT="91425" marB="91425" marR="91425" marL="91425"/>
                </a:tc>
                <a:tc>
                  <a:txBody>
                    <a:bodyPr/>
                    <a:lstStyle/>
                    <a:p>
                      <a:pPr indent="0" lvl="0" marL="0" rtl="0" algn="ctr">
                        <a:spcBef>
                          <a:spcPts val="0"/>
                        </a:spcBef>
                        <a:spcAft>
                          <a:spcPts val="0"/>
                        </a:spcAft>
                        <a:buNone/>
                      </a:pPr>
                      <a:r>
                        <a:rPr lang="en"/>
                        <a:t>14</a:t>
                      </a:r>
                      <a:endParaRPr/>
                    </a:p>
                  </a:txBody>
                  <a:tcPr marT="91425" marB="91425" marR="91425" marL="91425"/>
                </a:tc>
              </a:tr>
              <a:tr h="471525">
                <a:tc>
                  <a:txBody>
                    <a:bodyPr/>
                    <a:lstStyle/>
                    <a:p>
                      <a:pPr indent="0" lvl="0" marL="0" rtl="0" algn="l">
                        <a:spcBef>
                          <a:spcPts val="0"/>
                        </a:spcBef>
                        <a:spcAft>
                          <a:spcPts val="0"/>
                        </a:spcAft>
                        <a:buNone/>
                      </a:pPr>
                      <a:r>
                        <a:rPr lang="en"/>
                        <a:t>tanezumab</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10</a:t>
                      </a:r>
                      <a:endParaRPr/>
                    </a:p>
                  </a:txBody>
                  <a:tcPr marT="91425" marB="91425" marR="91425" marL="91425"/>
                </a:tc>
                <a:tc>
                  <a:txBody>
                    <a:bodyPr/>
                    <a:lstStyle/>
                    <a:p>
                      <a:pPr indent="0" lvl="0" marL="0" rtl="0" algn="ctr">
                        <a:spcBef>
                          <a:spcPts val="0"/>
                        </a:spcBef>
                        <a:spcAft>
                          <a:spcPts val="0"/>
                        </a:spcAft>
                        <a:buNone/>
                      </a:pPr>
                      <a:r>
                        <a:rPr lang="en"/>
                        <a:t>12</a:t>
                      </a:r>
                      <a:endParaRPr/>
                    </a:p>
                  </a:txBody>
                  <a:tcPr marT="91425" marB="91425" marR="91425" marL="91425"/>
                </a:tc>
              </a:tr>
              <a:tr h="100000">
                <a:tc>
                  <a:txBody>
                    <a:bodyPr/>
                    <a:lstStyle/>
                    <a:p>
                      <a:pPr indent="0" lvl="0" marL="0" rtl="0" algn="l">
                        <a:spcBef>
                          <a:spcPts val="0"/>
                        </a:spcBef>
                        <a:spcAft>
                          <a:spcPts val="0"/>
                        </a:spcAft>
                        <a:buNone/>
                      </a:pPr>
                      <a:r>
                        <a:rPr lang="en"/>
                        <a:t>LEVI-04</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10</a:t>
                      </a:r>
                      <a:endParaRPr/>
                    </a:p>
                  </a:txBody>
                  <a:tcPr marT="91425" marB="91425" marR="91425" marL="91425"/>
                </a:tc>
                <a:tc>
                  <a:txBody>
                    <a:bodyPr/>
                    <a:lstStyle/>
                    <a:p>
                      <a:pPr indent="0" lvl="0" marL="0" rtl="0" algn="ctr">
                        <a:spcBef>
                          <a:spcPts val="0"/>
                        </a:spcBef>
                        <a:spcAft>
                          <a:spcPts val="0"/>
                        </a:spcAft>
                        <a:buNone/>
                      </a:pPr>
                      <a:r>
                        <a:rPr lang="en"/>
                        <a:t>16</a:t>
                      </a:r>
                      <a:endParaRPr/>
                    </a:p>
                  </a:txBody>
                  <a:tcPr marT="91425" marB="91425" marR="91425" marL="91425"/>
                </a:tc>
              </a:tr>
            </a:tbl>
          </a:graphicData>
        </a:graphic>
      </p:graphicFrame>
      <p:sp>
        <p:nvSpPr>
          <p:cNvPr id="146" name="Google Shape;146;p20"/>
          <p:cNvSpPr txBox="1"/>
          <p:nvPr/>
        </p:nvSpPr>
        <p:spPr>
          <a:xfrm>
            <a:off x="1645195" y="1303473"/>
            <a:ext cx="2208000" cy="24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rPr>
              <a:t>BRPS</a:t>
            </a:r>
            <a:endParaRPr sz="1600">
              <a:solidFill>
                <a:schemeClr val="dk2"/>
              </a:solidFill>
            </a:endParaRPr>
          </a:p>
        </p:txBody>
      </p:sp>
      <p:pic>
        <p:nvPicPr>
          <p:cNvPr id="147" name="Google Shape;147;p20" title="Chart"/>
          <p:cNvPicPr preferRelativeResize="0"/>
          <p:nvPr/>
        </p:nvPicPr>
        <p:blipFill>
          <a:blip r:embed="rId3">
            <a:alphaModFix/>
          </a:blip>
          <a:stretch>
            <a:fillRect/>
          </a:stretch>
        </p:blipFill>
        <p:spPr>
          <a:xfrm>
            <a:off x="4093225" y="258550"/>
            <a:ext cx="5001351" cy="3092500"/>
          </a:xfrm>
          <a:prstGeom prst="rect">
            <a:avLst/>
          </a:prstGeom>
          <a:noFill/>
          <a:ln>
            <a:noFill/>
          </a:ln>
        </p:spPr>
      </p:pic>
      <p:sp>
        <p:nvSpPr>
          <p:cNvPr id="148" name="Google Shape;148;p20"/>
          <p:cNvSpPr txBox="1"/>
          <p:nvPr/>
        </p:nvSpPr>
        <p:spPr>
          <a:xfrm>
            <a:off x="4230338" y="3442000"/>
            <a:ext cx="4727100" cy="9234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Char char="-"/>
            </a:pPr>
            <a:r>
              <a:rPr lang="en" sz="1600">
                <a:solidFill>
                  <a:schemeClr val="dk2"/>
                </a:solidFill>
              </a:rPr>
              <a:t>placebo some effect but not as strong</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PT not as effective as inhibitors</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tanezumab with more deleterious side effects</a:t>
            </a:r>
            <a:endParaRPr sz="16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Discussion/Significance</a:t>
            </a:r>
            <a:endParaRPr/>
          </a:p>
        </p:txBody>
      </p:sp>
      <p:sp>
        <p:nvSpPr>
          <p:cNvPr id="154" name="Google Shape;15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advancement in current OA treatments</a:t>
            </a:r>
            <a:endParaRPr/>
          </a:p>
          <a:p>
            <a:pPr indent="-342900" lvl="0" marL="457200" rtl="0" algn="l">
              <a:spcBef>
                <a:spcPts val="0"/>
              </a:spcBef>
              <a:spcAft>
                <a:spcPts val="0"/>
              </a:spcAft>
              <a:buSzPts val="1800"/>
              <a:buChar char="-"/>
            </a:pPr>
            <a:r>
              <a:rPr lang="en"/>
              <a:t>tanezumab vs LEVI-04 effects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type="title"/>
          </p:nvPr>
        </p:nvSpPr>
        <p:spPr>
          <a:xfrm>
            <a:off x="311700" y="16222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Acknowledgements</a:t>
            </a:r>
            <a:endParaRPr/>
          </a:p>
        </p:txBody>
      </p:sp>
      <p:sp>
        <p:nvSpPr>
          <p:cNvPr id="160" name="Google Shape;160;p22"/>
          <p:cNvSpPr txBox="1"/>
          <p:nvPr>
            <p:ph idx="1" type="body"/>
          </p:nvPr>
        </p:nvSpPr>
        <p:spPr>
          <a:xfrm>
            <a:off x="311700" y="2329675"/>
            <a:ext cx="8520600" cy="886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Thank you to Professor Sah, team leader Justin Quon, and my teammates, as well as the contributions of the animals used.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Bibliography</a:t>
            </a:r>
            <a:endParaRPr/>
          </a:p>
        </p:txBody>
      </p:sp>
      <p:sp>
        <p:nvSpPr>
          <p:cNvPr id="166" name="Google Shape;16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000"/>
              </a:spcBef>
              <a:spcAft>
                <a:spcPts val="0"/>
              </a:spcAft>
              <a:buNone/>
            </a:pPr>
            <a:r>
              <a:rPr lang="en" sz="1100">
                <a:solidFill>
                  <a:schemeClr val="dk1"/>
                </a:solidFill>
              </a:rPr>
              <a:t>Grässel, S., &amp; Muschter, D. (2020). Recent advances in the treatment of osteoarthritis. </a:t>
            </a:r>
            <a:r>
              <a:rPr i="1" lang="en" sz="1100">
                <a:solidFill>
                  <a:schemeClr val="dk1"/>
                </a:solidFill>
              </a:rPr>
              <a:t>F1000Research</a:t>
            </a:r>
            <a:r>
              <a:rPr lang="en" sz="1100">
                <a:solidFill>
                  <a:schemeClr val="dk1"/>
                </a:solidFill>
              </a:rPr>
              <a:t>, </a:t>
            </a:r>
            <a:r>
              <a:rPr i="1" lang="en" sz="1100">
                <a:solidFill>
                  <a:schemeClr val="dk1"/>
                </a:solidFill>
              </a:rPr>
              <a:t>9</a:t>
            </a:r>
            <a:r>
              <a:rPr lang="en" sz="1100">
                <a:solidFill>
                  <a:schemeClr val="dk1"/>
                </a:solidFill>
              </a:rPr>
              <a:t>, F1000 Faculty Rev-325. </a:t>
            </a:r>
            <a:r>
              <a:rPr lang="en" sz="1100" u="sng">
                <a:solidFill>
                  <a:srgbClr val="1155CC"/>
                </a:solidFill>
                <a:hlinkClick r:id="rId3">
                  <a:extLst>
                    <a:ext uri="{A12FA001-AC4F-418D-AE19-62706E023703}">
                      <ahyp:hlinkClr val="tx"/>
                    </a:ext>
                  </a:extLst>
                </a:hlinkClick>
              </a:rPr>
              <a:t>https://doi.org/10.12688/f1000research.22115.1</a:t>
            </a:r>
            <a:endParaRPr/>
          </a:p>
          <a:p>
            <a:pPr indent="0" lvl="0" marL="0" rtl="0" algn="l">
              <a:spcBef>
                <a:spcPts val="1000"/>
              </a:spcBef>
              <a:spcAft>
                <a:spcPts val="0"/>
              </a:spcAft>
              <a:buNone/>
            </a:pPr>
            <a:r>
              <a:rPr lang="en" sz="1100">
                <a:solidFill>
                  <a:schemeClr val="dk1"/>
                </a:solidFill>
              </a:rPr>
              <a:t>Ge, Zigang &amp; Hu, Yang &amp; Heng, Boon &amp; Yang, Zheng &amp; Ouyang, Hongwei &amp; Lee, Eng &amp; Cao, Tong. (2006). Osteoarthritis and therapy. Arthritis and rheumatism. 55. 493-500. 10.1002/art.21994.</a:t>
            </a:r>
            <a:endParaRPr sz="1100">
              <a:solidFill>
                <a:schemeClr val="dk1"/>
              </a:solidFill>
            </a:endParaRPr>
          </a:p>
          <a:p>
            <a:pPr indent="0" lvl="0" marL="0" rtl="0" algn="l">
              <a:spcBef>
                <a:spcPts val="1000"/>
              </a:spcBef>
              <a:spcAft>
                <a:spcPts val="0"/>
              </a:spcAft>
              <a:buNone/>
            </a:pPr>
            <a:r>
              <a:rPr lang="en" sz="1100">
                <a:solidFill>
                  <a:schemeClr val="dk1"/>
                </a:solidFill>
              </a:rPr>
              <a:t>Philip G Conaghan, Ali Guermazi, Nathaniel Katz, Asger R Bihlet, Dror Rom, Michael C Perkins, Bernadette Hughes, Claire Herholdt, Iwona Bombelka, Simon Westbrook, OA04 A randomised controlled Phase II trial of LEVI-04, a novel neurotrophin-3 inhibitor, in knee osteoarthritis demonstrates substantially improved pain and function without deleterious effects on joint structure, </a:t>
            </a:r>
            <a:r>
              <a:rPr i="1" lang="en" sz="1100">
                <a:solidFill>
                  <a:schemeClr val="dk1"/>
                </a:solidFill>
              </a:rPr>
              <a:t>Rheumatology</a:t>
            </a:r>
            <a:r>
              <a:rPr lang="en" sz="1100">
                <a:solidFill>
                  <a:schemeClr val="dk1"/>
                </a:solidFill>
              </a:rPr>
              <a:t>, Volume 64, Issue Supplement_3, April 2025, keaf142.004,</a:t>
            </a:r>
            <a:r>
              <a:rPr lang="en" sz="1100">
                <a:solidFill>
                  <a:schemeClr val="dk1"/>
                </a:solidFill>
                <a:uFill>
                  <a:noFill/>
                </a:uFill>
                <a:hlinkClick r:id="rId4">
                  <a:extLst>
                    <a:ext uri="{A12FA001-AC4F-418D-AE19-62706E023703}">
                      <ahyp:hlinkClr val="tx"/>
                    </a:ext>
                  </a:extLst>
                </a:hlinkClick>
              </a:rPr>
              <a:t> </a:t>
            </a:r>
            <a:r>
              <a:rPr lang="en" sz="1100" u="sng">
                <a:solidFill>
                  <a:srgbClr val="1155CC"/>
                </a:solidFill>
                <a:hlinkClick r:id="rId5">
                  <a:extLst>
                    <a:ext uri="{A12FA001-AC4F-418D-AE19-62706E023703}">
                      <ahyp:hlinkClr val="tx"/>
                    </a:ext>
                  </a:extLst>
                </a:hlinkClick>
              </a:rPr>
              <a:t>https://doi.org/10.1093/rheumatology/keaf142.004</a:t>
            </a:r>
            <a:endParaRPr sz="1100">
              <a:solidFill>
                <a:schemeClr val="dk1"/>
              </a:solidFill>
            </a:endParaRPr>
          </a:p>
          <a:p>
            <a:pPr indent="0" lvl="0" marL="0" rtl="0" algn="l">
              <a:spcBef>
                <a:spcPts val="1000"/>
              </a:spcBef>
              <a:spcAft>
                <a:spcPts val="0"/>
              </a:spcAft>
              <a:buNone/>
            </a:pPr>
            <a:r>
              <a:rPr lang="en" sz="1100">
                <a:solidFill>
                  <a:schemeClr val="dk1"/>
                </a:solidFill>
              </a:rPr>
              <a:t>Gandek, B. (2015), Measurement Properties of the Western Ontario and McMaster Universities Osteoarthritis Index: A Systematic Review. Arthritis Care &amp; Research, 67: 216-229.</a:t>
            </a:r>
            <a:r>
              <a:rPr lang="en" sz="1100">
                <a:solidFill>
                  <a:schemeClr val="dk1"/>
                </a:solidFill>
                <a:uFill>
                  <a:noFill/>
                </a:uFill>
                <a:hlinkClick r:id="rId6">
                  <a:extLst>
                    <a:ext uri="{A12FA001-AC4F-418D-AE19-62706E023703}">
                      <ahyp:hlinkClr val="tx"/>
                    </a:ext>
                  </a:extLst>
                </a:hlinkClick>
              </a:rPr>
              <a:t> </a:t>
            </a:r>
            <a:r>
              <a:rPr lang="en" sz="1100" u="sng">
                <a:solidFill>
                  <a:schemeClr val="hlink"/>
                </a:solidFill>
                <a:hlinkClick r:id="rId7"/>
              </a:rPr>
              <a:t>https://doi.org/10.1002/acr.22415</a:t>
            </a:r>
            <a:endParaRPr sz="1100">
              <a:solidFill>
                <a:schemeClr val="dk1"/>
              </a:solidFill>
            </a:endParaRPr>
          </a:p>
          <a:p>
            <a:pPr indent="0" lvl="0" marL="0" rtl="0" algn="l">
              <a:spcBef>
                <a:spcPts val="1000"/>
              </a:spcBef>
              <a:spcAft>
                <a:spcPts val="0"/>
              </a:spcAft>
              <a:buNone/>
            </a:pPr>
            <a:r>
              <a:rPr lang="en" sz="1100">
                <a:solidFill>
                  <a:schemeClr val="dk1"/>
                </a:solidFill>
              </a:rPr>
              <a:t>Nikiphorou, E., Radner, H., Chatzidionysiou, K. </a:t>
            </a:r>
            <a:r>
              <a:rPr i="1" lang="en" sz="1100">
                <a:solidFill>
                  <a:schemeClr val="dk1"/>
                </a:solidFill>
              </a:rPr>
              <a:t>et al.</a:t>
            </a:r>
            <a:r>
              <a:rPr lang="en" sz="1100">
                <a:solidFill>
                  <a:schemeClr val="dk1"/>
                </a:solidFill>
              </a:rPr>
              <a:t> Patient global assessment in measuring disease activity in rheumatoid arthritis: a review of the literature. </a:t>
            </a:r>
            <a:r>
              <a:rPr i="1" lang="en" sz="1100">
                <a:solidFill>
                  <a:schemeClr val="dk1"/>
                </a:solidFill>
              </a:rPr>
              <a:t>Arthritis Res Ther</a:t>
            </a:r>
            <a:r>
              <a:rPr lang="en" sz="1100">
                <a:solidFill>
                  <a:schemeClr val="dk1"/>
                </a:solidFill>
              </a:rPr>
              <a:t> </a:t>
            </a:r>
            <a:r>
              <a:rPr b="1" lang="en" sz="1100">
                <a:solidFill>
                  <a:schemeClr val="dk1"/>
                </a:solidFill>
              </a:rPr>
              <a:t>18</a:t>
            </a:r>
            <a:r>
              <a:rPr lang="en" sz="1100">
                <a:solidFill>
                  <a:schemeClr val="dk1"/>
                </a:solidFill>
              </a:rPr>
              <a:t>, 251 (2016). </a:t>
            </a:r>
            <a:r>
              <a:rPr lang="en" sz="1100" u="sng">
                <a:solidFill>
                  <a:schemeClr val="hlink"/>
                </a:solidFill>
                <a:hlinkClick r:id="rId8"/>
              </a:rPr>
              <a:t>https://doi.org/10.1186/s13075-016-1151-6</a:t>
            </a:r>
            <a:endParaRPr sz="1100">
              <a:solidFill>
                <a:schemeClr val="dk1"/>
              </a:solidFill>
            </a:endParaRPr>
          </a:p>
          <a:p>
            <a:pPr indent="0" lvl="0" marL="0" rtl="0" algn="l">
              <a:spcBef>
                <a:spcPts val="1000"/>
              </a:spcBef>
              <a:spcAft>
                <a:spcPts val="1000"/>
              </a:spcAft>
              <a:buNone/>
            </a:pPr>
            <a:r>
              <a:rPr lang="en" sz="1100">
                <a:solidFill>
                  <a:schemeClr val="dk1"/>
                </a:solidFill>
              </a:rPr>
              <a:t>Miller, R. E., Block, J. A., &amp; Malfait, A. M. (2017). Nerve growth factor blockade for the management of osteoarthritis pain: what can we learn from clinical trials and preclinical models?. </a:t>
            </a:r>
            <a:r>
              <a:rPr i="1" lang="en" sz="1100">
                <a:solidFill>
                  <a:schemeClr val="dk1"/>
                </a:solidFill>
              </a:rPr>
              <a:t>Current opinion in rheumatology</a:t>
            </a:r>
            <a:r>
              <a:rPr lang="en" sz="1100">
                <a:solidFill>
                  <a:schemeClr val="dk1"/>
                </a:solidFill>
              </a:rPr>
              <a:t>, </a:t>
            </a:r>
            <a:r>
              <a:rPr i="1" lang="en" sz="1100">
                <a:solidFill>
                  <a:schemeClr val="dk1"/>
                </a:solidFill>
              </a:rPr>
              <a:t>29</a:t>
            </a:r>
            <a:r>
              <a:rPr lang="en" sz="1100">
                <a:solidFill>
                  <a:schemeClr val="dk1"/>
                </a:solidFill>
              </a:rPr>
              <a:t>(1), 110–118. https://doi.org/10.1097/BOR.0000000000000354</a:t>
            </a:r>
            <a:endParaRPr sz="11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Bibliography (cont.)</a:t>
            </a:r>
            <a:endParaRPr/>
          </a:p>
        </p:txBody>
      </p:sp>
      <p:sp>
        <p:nvSpPr>
          <p:cNvPr id="172" name="Google Shape;17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1000"/>
              </a:spcBef>
              <a:spcAft>
                <a:spcPts val="0"/>
              </a:spcAft>
              <a:buNone/>
            </a:pPr>
            <a:r>
              <a:rPr lang="en" sz="1100">
                <a:solidFill>
                  <a:schemeClr val="dk1"/>
                </a:solidFill>
              </a:rPr>
              <a:t>Benato, L., Murrell, J. &amp; Rooney, N. Bristol Rabbit Pain Scale (BRPS): clinical utility, validity and reliability. </a:t>
            </a:r>
            <a:r>
              <a:rPr i="1" lang="en" sz="1100">
                <a:solidFill>
                  <a:schemeClr val="dk1"/>
                </a:solidFill>
              </a:rPr>
              <a:t>BMC Vet Res</a:t>
            </a:r>
            <a:r>
              <a:rPr lang="en" sz="1100">
                <a:solidFill>
                  <a:schemeClr val="dk1"/>
                </a:solidFill>
              </a:rPr>
              <a:t> </a:t>
            </a:r>
            <a:r>
              <a:rPr b="1" lang="en" sz="1100">
                <a:solidFill>
                  <a:schemeClr val="dk1"/>
                </a:solidFill>
              </a:rPr>
              <a:t>18</a:t>
            </a:r>
            <a:r>
              <a:rPr lang="en" sz="1100">
                <a:solidFill>
                  <a:schemeClr val="dk1"/>
                </a:solidFill>
              </a:rPr>
              <a:t>, 341 (2022). </a:t>
            </a:r>
            <a:r>
              <a:rPr lang="en" sz="1100" u="sng">
                <a:solidFill>
                  <a:schemeClr val="hlink"/>
                </a:solidFill>
                <a:hlinkClick r:id="rId3"/>
              </a:rPr>
              <a:t>https://doi.org/10.1186/s12917-022-03434-x</a:t>
            </a:r>
            <a:endParaRPr sz="1100">
              <a:solidFill>
                <a:schemeClr val="dk1"/>
              </a:solidFill>
            </a:endParaRPr>
          </a:p>
          <a:p>
            <a:pPr indent="0" lvl="0" marL="0" rtl="0" algn="l">
              <a:spcBef>
                <a:spcPts val="1000"/>
              </a:spcBef>
              <a:spcAft>
                <a:spcPts val="0"/>
              </a:spcAft>
              <a:buNone/>
            </a:pPr>
            <a:r>
              <a:rPr lang="en" sz="1100">
                <a:solidFill>
                  <a:schemeClr val="dk1"/>
                </a:solidFill>
              </a:rPr>
              <a:t>Schnitzer TJ, Easton R, Pang S, et al. Effect of Tanezumab on Joint Pain, Physical Function, and Patient Global Assessment of Osteoarthritis Among Patients With Osteoarthritis of the Hip or Knee: A Randomized Clinical Trial. </a:t>
            </a:r>
            <a:r>
              <a:rPr i="1" lang="en" sz="1100">
                <a:solidFill>
                  <a:schemeClr val="dk1"/>
                </a:solidFill>
              </a:rPr>
              <a:t>JAMA.</a:t>
            </a:r>
            <a:r>
              <a:rPr lang="en" sz="1100">
                <a:solidFill>
                  <a:schemeClr val="dk1"/>
                </a:solidFill>
              </a:rPr>
              <a:t> 2019;322(1):37–48. doi:10.1001/jama.2019.8044</a:t>
            </a:r>
            <a:endParaRPr sz="1100">
              <a:solidFill>
                <a:schemeClr val="dk1"/>
              </a:solidFill>
            </a:endParaRPr>
          </a:p>
          <a:p>
            <a:pPr indent="0" lvl="0" marL="0" rtl="0" algn="l">
              <a:spcBef>
                <a:spcPts val="1000"/>
              </a:spcBef>
              <a:spcAft>
                <a:spcPts val="0"/>
              </a:spcAft>
              <a:buClr>
                <a:schemeClr val="dk1"/>
              </a:buClr>
              <a:buSzPts val="1100"/>
              <a:buFont typeface="Arial"/>
              <a:buNone/>
            </a:pPr>
            <a:r>
              <a:rPr lang="en" sz="1100">
                <a:solidFill>
                  <a:schemeClr val="dk1"/>
                </a:solidFill>
              </a:rPr>
              <a:t>Fazeli MS, McIntyre L, Huang Y, Chevalier X. Intra-articular placebo effect in the treatment of knee osteoarthritis: a survey of the current clinical evidence. </a:t>
            </a:r>
            <a:r>
              <a:rPr i="1" lang="en" sz="1100">
                <a:solidFill>
                  <a:schemeClr val="dk1"/>
                </a:solidFill>
              </a:rPr>
              <a:t>Therapeutic Advances in Musculoskeletal Disease</a:t>
            </a:r>
            <a:r>
              <a:rPr lang="en" sz="1100">
                <a:solidFill>
                  <a:schemeClr val="dk1"/>
                </a:solidFill>
              </a:rPr>
              <a:t>. 2022;14. doi:</a:t>
            </a:r>
            <a:r>
              <a:rPr lang="en" sz="1100" u="sng">
                <a:solidFill>
                  <a:schemeClr val="hlink"/>
                </a:solidFill>
                <a:hlinkClick r:id="rId4"/>
              </a:rPr>
              <a:t>10.1177/1759720X211066689</a:t>
            </a:r>
            <a:endParaRPr sz="1100" u="sng">
              <a:solidFill>
                <a:schemeClr val="hlink"/>
              </a:solidFill>
            </a:endParaRPr>
          </a:p>
          <a:p>
            <a:pPr indent="0" lvl="0" marL="0" rtl="0" algn="l">
              <a:spcBef>
                <a:spcPts val="1000"/>
              </a:spcBef>
              <a:spcAft>
                <a:spcPts val="0"/>
              </a:spcAft>
              <a:buNone/>
            </a:pPr>
            <a:r>
              <a:rPr lang="en" sz="1100">
                <a:solidFill>
                  <a:schemeClr val="dk1"/>
                </a:solidFill>
              </a:rPr>
              <a:t>Ni, Xinxin MSa; Hu, Lianxin PhDa; Zhang, Xun PhDa,b; Wang, Zefeng PhDa,*; Yan, Cong PhDc; Peyrodie, Laurent PhDd; Lin, Minghai MSa; Wu, Xinyue MMc; Wang, Huajun MSa; Hu, Shijia MSa. Physical therapy options for knee osteoarthritis: A review. Medicine 103(30):p e38415, July 26, 2024. | DOI: 10.1097/MD.0000000000038415</a:t>
            </a:r>
            <a:endParaRPr sz="1100">
              <a:solidFill>
                <a:schemeClr val="dk1"/>
              </a:solidFill>
            </a:endParaRPr>
          </a:p>
          <a:p>
            <a:pPr indent="0" lvl="0" marL="0" rtl="0" algn="l">
              <a:spcBef>
                <a:spcPts val="1000"/>
              </a:spcBef>
              <a:spcAft>
                <a:spcPts val="1000"/>
              </a:spcAft>
              <a:buNone/>
            </a:pPr>
            <a:r>
              <a:rPr lang="en" sz="1100">
                <a:solidFill>
                  <a:schemeClr val="dk1"/>
                </a:solidFill>
              </a:rPr>
              <a:t>P.G. Conaghan, A. Guermazi, N. Katz, A.R. Bihlet, D. Rom, C.M. Perkins, B. Hughes, C. Herholdt, I. Bombelka, S.L. Westbrook, LEVI-04, A NOVEL NEUROTROPHIN-3 INHIBITOR, DEMONSTRATED SIGNIFICANT IMPROVEMENTS IN PAIN AND FUNCTION AND WAS NOT ASSOCIATED WITH DELETERIOUS EFFECTS ON JOINT STRUCTURE IN PEOPLE WITH KNEE OA IN A PHASE II RCT, Osteoarthritis Imaging, Volume 5, Supplement 1, 2025, 100352, ISSN 2772-6541, </a:t>
            </a:r>
            <a:r>
              <a:rPr lang="en" sz="1100" u="sng">
                <a:solidFill>
                  <a:schemeClr val="hlink"/>
                </a:solidFill>
                <a:hlinkClick r:id="rId5"/>
              </a:rPr>
              <a:t>https://doi.org/10.1016/j.ostima.2025.100352</a:t>
            </a:r>
            <a:r>
              <a:rPr lang="en" sz="1100">
                <a:solidFill>
                  <a:schemeClr val="dk1"/>
                </a:solidFill>
              </a:rPr>
              <a:t>.</a:t>
            </a:r>
            <a:endParaRPr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